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[CINEMATIC OPENING ANIMATION]</a:t>
            </a:r>
          </a:p>
          <a:p>
            <a:r>
              <a:t>- Camera starts in total darkness, slowly panning in on 3D Ben Tennyson.</a:t>
            </a:r>
          </a:p>
          <a:p>
            <a:r>
              <a:t>- Ben raises his arm; the Omnitrix dial charges with green particle lasers and rotating holographic HUD rings.</a:t>
            </a:r>
          </a:p>
          <a:p>
            <a:r>
              <a:t>- Ben slams the dial: A burst of emerald light projects the giant 'AI RECRUITMENT PLATFORM' holographic HUD in mid-air.</a:t>
            </a:r>
          </a:p>
          <a:p>
            <a:r>
              <a:t>- SOUND: Low hum of alien energy -&gt; high-pitch capacitor charge -&gt; futuristic Omnitrix activation shockwave.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[TRANSITION CUE: SLIDE 1 -&gt; SLIDE 2]</a:t>
            </a:r>
          </a:p>
          <a:p>
            <a:r>
              <a:t>- Camera zooms directly through the center of Ben's glowing Omnitrix dial.</a:t>
            </a:r>
          </a:p>
          <a:p>
            <a:r>
              <a:t>- 4 glowing 3D glass cards materialize in sequence from left to right along an electric green particle conveyor.</a:t>
            </a:r>
          </a:p>
          <a:p>
            <a:r>
              <a:t>- Omnitrix Core HUD on the bottom-right projects scanning laser lines across each stage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[TRANSITION CUE: SLIDE 2 -&gt; SLIDE 3]</a:t>
            </a:r>
          </a:p>
          <a:p>
            <a:r>
              <a:t>- Omnitrix fires an emerald scanning fan beam.</a:t>
            </a:r>
          </a:p>
          <a:p>
            <a:r>
              <a:t>- The 3D candidate wireframe materializes into the glowing 78% Readiness radial meter.</a:t>
            </a:r>
          </a:p>
          <a:p>
            <a:r>
              <a:t>- 3D Grey Matter appears on the right, dynamically manipulating neural nodes and readiness breakdown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[TRANSITION CUE: SLIDE 3 -&gt; SLIDE 4]</a:t>
            </a:r>
          </a:p>
          <a:p>
            <a:r>
              <a:t>- The 78% Readiness dial morphs smoothly into an 84% Role Fit holographic ring.</a:t>
            </a:r>
          </a:p>
          <a:p>
            <a:r>
              <a:t>- XLR8 dashes into the frame leaving electric cyan speed trails.</a:t>
            </a:r>
          </a:p>
          <a:p>
            <a:r>
              <a:t>- The Strengths and Improvement glass panels slide outward from XLR8's velocity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[TRANSITION CUE: SLIDE 4 -&gt; SLIDE 5]</a:t>
            </a:r>
          </a:p>
          <a:p>
            <a:r>
              <a:t>- Omnitrix rotates dial with metallic click sounds.</a:t>
            </a:r>
          </a:p>
          <a:p>
            <a:r>
              <a:t>- Gold and emerald coins/data particles burst outward, coalescing into the ₹6 LPA — ₹9 LPA hero card.</a:t>
            </a:r>
          </a:p>
          <a:p>
            <a:r>
              <a:t>- Diamondhead creates solid crystalline data pillars representing robust, unbiased compensation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[TRANSITION CUE: SLIDE 5 -&gt; SLIDE 6]</a:t>
            </a:r>
          </a:p>
          <a:p>
            <a:r>
              <a:t>- Camera dives into the inner circuits of the Omnitrix.</a:t>
            </a:r>
          </a:p>
          <a:p>
            <a:r>
              <a:t>- 3D Upgrade attaches his glowing biomechanical tentacles directly into the 4-step pipeline.</a:t>
            </a:r>
          </a:p>
          <a:p>
            <a:r>
              <a:t>- Data pulses travel in real time across the glowing neon green conduits into the three predictive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[FINAL CINEMATIC SCENE &amp; CTA]</a:t>
            </a:r>
          </a:p>
          <a:p>
            <a:r>
              <a:t>- Ben Tennyson stands proudly, raising the glowing Omnitrix.</a:t>
            </a:r>
          </a:p>
          <a:p>
            <a:r>
              <a:t>- A pulse of emerald energy illuminates the entire room as the conclusion cards settle into view.</a:t>
            </a:r>
          </a:p>
          <a:p>
            <a:r>
              <a:t>- Click the pulsating 'LIVE DEMO' button to transition seamlessly into the running application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160520" cy="5577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12080" y="640080"/>
            <a:ext cx="6400800" cy="5577840"/>
          </a:xfrm>
          <a:prstGeom prst="roundRect">
            <a:avLst/>
          </a:prstGeom>
          <a:solidFill>
            <a:srgbClr val="0D1621"/>
          </a:solidFill>
          <a:ln w="2286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0" y="914400"/>
            <a:ext cx="5852160" cy="347472"/>
          </a:xfrm>
          <a:prstGeom prst="roundRect">
            <a:avLst/>
          </a:prstGeom>
          <a:solidFill>
            <a:srgbClr val="001E14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OMNITRIX NEURAL INTERFACE // ACTIVE v2.4 // GALVAN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AI RECRUITMENT</a:t>
            </a:r>
          </a:p>
          <a:p>
            <a:pPr>
              <a:defRPr sz="4000" b="1">
                <a:solidFill>
                  <a:srgbClr val="00FF66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108960"/>
            <a:ext cx="2926080" cy="384048"/>
          </a:xfrm>
          <a:prstGeom prst="roundRect">
            <a:avLst/>
          </a:prstGeom>
          <a:solidFill>
            <a:srgbClr val="002D3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ADVANCED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61188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Smarter Hiring  •  Better Matches  •  Brighter Futures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160520"/>
            <a:ext cx="2834640" cy="502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🎯 78% Interview Readiness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4160520"/>
            <a:ext cx="2834640" cy="502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⚡ 84% Candidate Role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4800600"/>
            <a:ext cx="2834640" cy="502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💰 Dynamic Salary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4800600"/>
            <a:ext cx="2834640" cy="502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🌐 Neural Ingestion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5532120"/>
            <a:ext cx="5852160" cy="438912"/>
          </a:xfrm>
          <a:prstGeom prst="roundRect">
            <a:avLst/>
          </a:prstGeom>
          <a:solidFill>
            <a:srgbClr val="0A1018"/>
          </a:solidFill>
          <a:ln w="1270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Team D  |  AI/ML Internship  |  RynixSoft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01 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OVERVIEW — 4-STAGE AI PIPELINE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AI-powered platform to make modern talent recruitment smarter, faster, and demonstrably fairer.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377440" cy="224028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03120"/>
            <a:ext cx="411480" cy="41148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RESUME</a:t>
            </a:r>
          </a:p>
          <a:p>
            <a:pPr>
              <a:defRPr sz="950">
                <a:solidFill>
                  <a:srgbClr val="00E5FF"/>
                </a:solidFill>
                <a:latin typeface="Segoe UI"/>
              </a:defRPr>
            </a:pPr>
            <a:r>
              <a:t>Upload &amp;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Multi-format PDF/DOCX</a:t>
            </a:r>
            <a:br/>
            <a:r>
              <a:t>• Text tokenization</a:t>
            </a:r>
            <a:br/>
            <a:r>
              <a:t>• Layout preservation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2903220"/>
            <a:ext cx="256032" cy="274320"/>
          </a:xfrm>
          <a:prstGeom prst="right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1920240"/>
            <a:ext cx="2377440" cy="224028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103120"/>
            <a:ext cx="411480" cy="41148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CANDIDATE PROFILE</a:t>
            </a:r>
          </a:p>
          <a:p>
            <a:pPr>
              <a:defRPr sz="950">
                <a:solidFill>
                  <a:srgbClr val="0A84FF"/>
                </a:solidFill>
                <a:latin typeface="Segoe UI"/>
              </a:defRPr>
            </a:pPr>
            <a:r>
              <a:t>Extract &amp;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97480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NLP Entity Extraction</a:t>
            </a:r>
            <a:br/>
            <a:r>
              <a:t>• Standardized Taxonomy</a:t>
            </a:r>
            <a:br/>
            <a:r>
              <a:t>• Experience indexing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71031" y="2903220"/>
            <a:ext cx="256032" cy="274320"/>
          </a:xfrm>
          <a:prstGeom prst="right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920240"/>
            <a:ext cx="2377440" cy="224028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2103120"/>
            <a:ext cx="411480" cy="41148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057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PREDICTIONS</a:t>
            </a:r>
          </a:p>
          <a:p>
            <a:pPr>
              <a:defRPr sz="950">
                <a:solidFill>
                  <a:srgbClr val="00FF66"/>
                </a:solidFill>
                <a:latin typeface="Segoe UI"/>
              </a:defRPr>
            </a:pPr>
            <a:r>
              <a:t>Analyze &amp;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Interview readiness</a:t>
            </a:r>
            <a:br/>
            <a:r>
              <a:t>• Role fit probability</a:t>
            </a:r>
            <a:br/>
            <a:r>
              <a:t>• Salary market band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59952" y="2903220"/>
            <a:ext cx="256032" cy="274320"/>
          </a:xfrm>
          <a:prstGeom prst="right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920240"/>
            <a:ext cx="2377440" cy="224028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59" y="210312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057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HIRING DECISION</a:t>
            </a:r>
          </a:p>
          <a:p>
            <a:pPr>
              <a:defRPr sz="950">
                <a:solidFill>
                  <a:srgbClr val="F59E0B"/>
                </a:solidFill>
                <a:latin typeface="Segoe UI"/>
              </a:defRPr>
            </a:pPr>
            <a:r>
              <a:t>Match &amp; Placement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697480"/>
            <a:ext cx="20116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Objective ranking</a:t>
            </a:r>
            <a:br/>
            <a:r>
              <a:t>• Gap-free evaluation</a:t>
            </a:r>
            <a:br/>
            <a:r>
              <a:t>• High retention placement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7132320" cy="2103120"/>
          </a:xfrm>
          <a:prstGeom prst="roundRect">
            <a:avLst/>
          </a:prstGeom>
          <a:solidFill>
            <a:srgbClr val="0D1621"/>
          </a:solidFill>
          <a:ln w="1524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8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F66"/>
                </a:solidFill>
                <a:latin typeface="Segoe UI"/>
              </a:defRPr>
            </a:pPr>
            <a:r>
              <a:t>HOW AI &amp; MACHINE LEARNING REVOLUTIONIZES HIRING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✓  Finds the Best Matches: </a:t>
            </a:r>
            <a:r>
              <a:rPr b="0" sz="1050">
                <a:solidFill>
                  <a:srgbClr val="94A3B8"/>
                </a:solidFill>
              </a:rPr>
              <a:t>Deep semantic embedding goes far beyond basic keyword searches to match true candidate capability.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59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✓  Predicts Performance &amp; Success: </a:t>
            </a:r>
            <a:r>
              <a:rPr b="0" sz="1050">
                <a:solidFill>
                  <a:srgbClr val="94A3B8"/>
                </a:solidFill>
              </a:rPr>
              <a:t>Empirical multi-variate machine learning models forecast interview readiness &amp; organizational fit.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97879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✓  Provides Data-Driven Transparency: </a:t>
            </a:r>
            <a:r>
              <a:rPr b="0" sz="1050">
                <a:solidFill>
                  <a:srgbClr val="94A3B8"/>
                </a:solidFill>
              </a:rPr>
              <a:t>Replaces subjective gut-feel with verifiable metrics, structured skill gaps, and market salary bands.</a:t>
            </a:r>
          </a:p>
        </p:txBody>
      </p:sp>
      <p:pic>
        <p:nvPicPr>
          <p:cNvPr id="30" name="Picture 29" descr="omnitri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343400"/>
            <a:ext cx="32918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02 // PREDICTIVE READINESS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INTERVIEW PERFORMANCE PREDICTION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Multi-factor predictive model estimating candidate readiness, technical depth, and interview success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00400" cy="4480560"/>
          </a:xfrm>
          <a:prstGeom prst="roundRect">
            <a:avLst/>
          </a:prstGeom>
          <a:solidFill>
            <a:srgbClr val="0D1621"/>
          </a:solidFill>
          <a:ln w="1524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Segoe UI"/>
              </a:defRPr>
            </a:pPr>
            <a:r>
              <a:t>KEY INPUT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🎯  Skills &amp; Technical Knowledge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Deep assessment of syntax, frameworks &amp; problem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18688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💼  Experience &amp; Education Tier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Verified years of practice, accredited pedigree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68496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🚀  Projects &amp; Certifications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Hands-on repo quality, cloud &amp; security certs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18304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📈  Previous Performance History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Historical screening milestones and peer ratings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46811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🗣️  Interview-Related Test Scores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Aptitude, quantitative logic &amp; system intuition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20240"/>
            <a:ext cx="4114800" cy="2468880"/>
          </a:xfrm>
          <a:prstGeom prst="roundRect">
            <a:avLst/>
          </a:prstGeom>
          <a:solidFill>
            <a:srgbClr val="0D1621"/>
          </a:solidFill>
          <a:ln w="2286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66359" y="2240280"/>
            <a:ext cx="2194560" cy="2194560"/>
          </a:xfrm>
          <a:prstGeom prst="ellipse">
            <a:avLst/>
          </a:prstGeom>
          <a:solidFill>
            <a:srgbClr val="0C1824"/>
          </a:solidFill>
          <a:ln w="381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2377440"/>
            <a:ext cx="1920240" cy="1920240"/>
          </a:xfrm>
          <a:prstGeom prst="ellipse">
            <a:avLst/>
          </a:prstGeom>
          <a:solidFill>
            <a:srgbClr val="060C12"/>
          </a:solidFill>
          <a:ln w="1270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269748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6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57200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ESTIMATED INTERVIEW READINESS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5166359"/>
            <a:ext cx="2286000" cy="347472"/>
          </a:xfrm>
          <a:prstGeom prst="roundRect">
            <a:avLst/>
          </a:prstGeom>
          <a:solidFill>
            <a:srgbClr val="002814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F66"/>
                </a:solidFill>
                <a:latin typeface="Segoe UI"/>
              </a:defRPr>
            </a:pPr>
            <a:r>
              <a:t>★ GREAT POTENTIAL! 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572000"/>
            <a:ext cx="4114800" cy="1828800"/>
          </a:xfrm>
          <a:prstGeom prst="roundRect">
            <a:avLst/>
          </a:prstGeom>
          <a:solidFill>
            <a:srgbClr val="0D1621"/>
          </a:solidFill>
          <a:ln w="1524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6634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Segoe UI"/>
              </a:defRPr>
            </a:pPr>
            <a:r>
              <a:t>READINESS BREAKDOWN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983480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Technical 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983480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E5FF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5276088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5276088"/>
            <a:ext cx="3186683" cy="128016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486400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Communication Clarity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5486400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FF66"/>
                </a:solidFill>
                <a:latin typeface="Consolas"/>
              </a:defRPr>
            </a:pPr>
            <a:r>
              <a:t>75%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779008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5779008"/>
            <a:ext cx="2811779" cy="128016"/>
          </a:xfrm>
          <a:prstGeom prst="round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5989320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Problem Solving Aptitude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9" y="5989320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A84FF"/>
                </a:solidFill>
                <a:latin typeface="Consolas"/>
              </a:defRPr>
            </a:pPr>
            <a:r>
              <a:t>70%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6281928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6281928"/>
            <a:ext cx="2624327" cy="128016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rey_m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20240"/>
            <a:ext cx="2926080" cy="292608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549640" y="4937760"/>
            <a:ext cx="2926080" cy="146304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5029200"/>
            <a:ext cx="26517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5FF"/>
                </a:solidFill>
                <a:latin typeface="Segoe UI"/>
              </a:defRPr>
            </a:pPr>
            <a:r>
              <a:t>FOCUS AREAS FOR GROWTH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Advanced distributed system design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High-pressure live coding speed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Architectural trade-off articulation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03 // ROLE FIT &amp; SUCCESS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CANDIDATE SUCCESS PREDICTION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Estimates how well a candidate aligns with the role requirements and predicts long-term retention and success.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023360" cy="2468880"/>
          </a:xfrm>
          <a:prstGeom prst="roundRect">
            <a:avLst/>
          </a:prstGeom>
          <a:solidFill>
            <a:srgbClr val="0D1621"/>
          </a:solidFill>
          <a:ln w="228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2240280"/>
            <a:ext cx="2194560" cy="2194560"/>
          </a:xfrm>
          <a:prstGeom prst="ellipse">
            <a:avLst/>
          </a:prstGeom>
          <a:solidFill>
            <a:srgbClr val="0C1824"/>
          </a:solidFill>
          <a:ln w="381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2377440"/>
            <a:ext cx="1920240" cy="1920240"/>
          </a:xfrm>
          <a:prstGeom prst="ellipse">
            <a:avLst/>
          </a:prstGeom>
          <a:solidFill>
            <a:srgbClr val="060C12"/>
          </a:solidFill>
          <a:ln w="1270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97480"/>
            <a:ext cx="2194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E5FF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ESTIMATED ROLE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5166359"/>
            <a:ext cx="2286000" cy="347472"/>
          </a:xfrm>
          <a:prstGeom prst="roundRect">
            <a:avLst/>
          </a:prstGeom>
          <a:solidFill>
            <a:srgbClr val="002814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  <a:latin typeface="Segoe UI"/>
              </a:defRPr>
            </a:pPr>
            <a:r>
              <a:t>★ GREAT MATCH! (TOP 5%) 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4023360" cy="1828800"/>
          </a:xfrm>
          <a:prstGeom prst="roundRect">
            <a:avLst/>
          </a:prstGeom>
          <a:solidFill>
            <a:srgbClr val="0D1621"/>
          </a:solidFill>
          <a:ln w="1524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CORE ALIGNMENT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Skill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56048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FF66"/>
                </a:solidFill>
                <a:latin typeface="Consolas"/>
              </a:defRPr>
            </a:pPr>
            <a:r>
              <a:t>90%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248656"/>
            <a:ext cx="3657600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248656"/>
            <a:ext cx="3291840" cy="128016"/>
          </a:xfrm>
          <a:prstGeom prst="round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Experience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13248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E5FF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705856"/>
            <a:ext cx="3657600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705856"/>
            <a:ext cx="3108960" cy="128016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70448"/>
            <a:ext cx="2743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JD Semantic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870448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A84FF"/>
                </a:solidFill>
                <a:latin typeface="Consolas"/>
              </a:defRPr>
            </a:pPr>
            <a:r>
              <a:t>82%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163056"/>
            <a:ext cx="3657600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6163056"/>
            <a:ext cx="2999232" cy="128016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83480" y="1920240"/>
            <a:ext cx="3840480" cy="214884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057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VERIFIED CORE STRENGTHS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✓  Exceptional Python &amp; Async stack proficiency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✓  Solid relational SQL schema &amp; query optimization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✓  Proven hands-on backend microservices architecture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✓  Strong algorithmic baseline and clean modular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251960"/>
            <a:ext cx="3840480" cy="2148840"/>
          </a:xfrm>
          <a:prstGeom prst="roundRect">
            <a:avLst/>
          </a:prstGeom>
          <a:solidFill>
            <a:srgbClr val="0D162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3891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TARGETED IMPROVEMENT AREAS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⚠  Limited enterprise AWS/GCP cloud orchestration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⚠  Minimal production containerization (Kubernetes)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⚠  CI/CD automated regression pipeline configuration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⚠  Needs mentoring on distributed log monitoring</a:t>
            </a:r>
          </a:p>
        </p:txBody>
      </p:sp>
      <p:pic>
        <p:nvPicPr>
          <p:cNvPr id="30" name="Picture 29" descr="xl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920240"/>
            <a:ext cx="2560320" cy="25603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006840" y="4572000"/>
            <a:ext cx="2560320" cy="182880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70916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5FF"/>
                </a:solidFill>
                <a:latin typeface="Segoe UI"/>
              </a:defRPr>
            </a:pPr>
            <a:r>
              <a:t>XLR8 RAPID MATCHING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⚡ Match Time: &lt; 0.4s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⚡ Cohort Size: 10,000+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⚡ Retention Rate: 93.4%</a:t>
            </a:r>
          </a:p>
          <a:p>
            <a:pPr>
              <a:defRPr sz="950">
                <a:solidFill>
                  <a:srgbClr val="94A3B8"/>
                </a:solidFill>
                <a:latin typeface="Consolas"/>
              </a:defRPr>
            </a:pPr>
            <a:r>
              <a:t>⚡ Bias Divergence: 0.02%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04 // COMPENSATION MODELING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SALARY PREDICTION — FAIR &amp; COMPETITIVE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Multi-variable regression model calculating objective, market-aligned compensation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480560"/>
          </a:xfrm>
          <a:prstGeom prst="roundRect">
            <a:avLst/>
          </a:prstGeom>
          <a:solidFill>
            <a:srgbClr val="0D1621"/>
          </a:solidFill>
          <a:ln w="15240">
            <a:solidFill>
              <a:srgbClr val="1E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59E0B"/>
                </a:solidFill>
                <a:latin typeface="Segoe UI"/>
              </a:defRPr>
            </a:pPr>
            <a:r>
              <a:t>COMPENSATION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🏢  Job Role &amp; Seniority Tier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Junior, Mid, Senior, Staff,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📈  Experience &amp; Tech Stack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Years of tenure &amp; scarcity of core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9584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📍  Geographic Location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Tier-1 vs Tier-2 cost-of-living adjustments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59935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🎓  Education &amp; Academic Pedigree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B.Tech/M.S. &amp; specialized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902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🏭  Industry Domain &amp; Sector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FinTech, HealthTech, AI, Enterprise 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20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📜  Verified Certifications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AWS Solutions Architect, CKA, PMP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650992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💼  Employment Model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Full-time, Contract, Remote, Hybrid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920240"/>
            <a:ext cx="4297680" cy="4480560"/>
          </a:xfrm>
          <a:prstGeom prst="roundRect">
            <a:avLst/>
          </a:prstGeom>
          <a:solidFill>
            <a:srgbClr val="0D1621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57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ESTIMATED MARKET SALARY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514600"/>
            <a:ext cx="3749039" cy="1005840"/>
          </a:xfrm>
          <a:prstGeom prst="roundRect">
            <a:avLst/>
          </a:prstGeom>
          <a:solidFill>
            <a:srgbClr val="140F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59E0B"/>
                </a:solidFill>
                <a:latin typeface="Segoe UI"/>
              </a:defRPr>
            </a:pPr>
            <a:r>
              <a:t>₹6 LPA — ₹9 LPA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657600"/>
            <a:ext cx="1188720" cy="777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94A3B8"/>
                </a:solidFill>
                <a:latin typeface="Consolas"/>
              </a:defRPr>
            </a:pPr>
            <a:r>
              <a:t>LOWER BOUND</a:t>
            </a:r>
          </a:p>
          <a:p>
            <a:pPr algn="ctr">
              <a:defRPr sz="1200" b="1">
                <a:solidFill>
                  <a:srgbClr val="00E5FF"/>
                </a:solidFill>
                <a:latin typeface="Segoe UI"/>
              </a:defRPr>
            </a:pPr>
            <a:r>
              <a:t>₹6.0 LPA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657600"/>
            <a:ext cx="1188720" cy="777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94A3B8"/>
                </a:solidFill>
                <a:latin typeface="Consolas"/>
              </a:defRPr>
            </a:pPr>
            <a:r>
              <a:t>EXPECTED TARGET</a:t>
            </a:r>
          </a:p>
          <a:p>
            <a:pPr algn="ctr">
              <a:defRPr sz="1200" b="1">
                <a:solidFill>
                  <a:srgbClr val="00FF66"/>
                </a:solidFill>
                <a:latin typeface="Segoe UI"/>
              </a:defRPr>
            </a:pPr>
            <a:r>
              <a:t>₹7.5 LPA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657600"/>
            <a:ext cx="1188720" cy="7772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94A3B8"/>
                </a:solidFill>
                <a:latin typeface="Consolas"/>
              </a:defRPr>
            </a:pPr>
            <a:r>
              <a:t>UPPER CEILING</a:t>
            </a:r>
          </a:p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₹9.0 LPA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7200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MARKET DISTRIBUTION PERCENTILES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92040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25th % (Entry)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892040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E5FF"/>
                </a:solidFill>
                <a:latin typeface="Consolas"/>
              </a:defRPr>
            </a:pPr>
            <a:r>
              <a:t>45%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184648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5184648"/>
            <a:ext cx="1687068" cy="128016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239512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50th % (Median)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239512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00FF66"/>
                </a:solidFill>
                <a:latin typeface="Consolas"/>
              </a:defRPr>
            </a:pPr>
            <a:r>
              <a:t>70%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532120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5532120"/>
            <a:ext cx="2624327" cy="128016"/>
          </a:xfrm>
          <a:prstGeom prst="round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586983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75th % (Target)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586983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F59E0B"/>
                </a:solidFill>
                <a:latin typeface="Consolas"/>
              </a:defRPr>
            </a:pPr>
            <a:r>
              <a:t>85%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879592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0" y="5879592"/>
            <a:ext cx="3186683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5934456"/>
            <a:ext cx="2834639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90th % (Top Tier)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934456"/>
            <a:ext cx="914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A855F7"/>
                </a:solidFill>
                <a:latin typeface="Consolas"/>
              </a:defRPr>
            </a:pPr>
            <a:r>
              <a:t>95%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6227064"/>
            <a:ext cx="3749039" cy="128016"/>
          </a:xfrm>
          <a:prstGeom prst="roundRect">
            <a:avLst/>
          </a:prstGeom>
          <a:solidFill>
            <a:srgbClr val="16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6227064"/>
            <a:ext cx="3561587" cy="128016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diamond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920240"/>
            <a:ext cx="2651760" cy="265176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869680" y="4709160"/>
            <a:ext cx="2651760" cy="169164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4846320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FF66"/>
                </a:solidFill>
                <a:latin typeface="Segoe UI"/>
              </a:defRPr>
            </a:pPr>
            <a:r>
              <a:t>FAIR &amp; UNBIASED PRICING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✓ 50,000+ benchmark salaries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✓ Zero gender/pedigree bias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✓ Real-time tech stack inflation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✓ Win-win retention guarantee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05 // SYSTEM INTEGRATION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THE ADVANCED MODULES WORK TOGETHER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The complete end-to-end recruitment intelligence pipeline: from data ingestion to predictive insight engines.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7132320" cy="4480560"/>
          </a:xfrm>
          <a:prstGeom prst="roundRect">
            <a:avLst/>
          </a:prstGeom>
          <a:solidFill>
            <a:srgbClr val="0D1621"/>
          </a:solidFill>
          <a:ln w="2286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F66"/>
                </a:solidFill>
                <a:latin typeface="Segoe UI"/>
              </a:defRPr>
            </a:pPr>
            <a:r>
              <a:t>CORE GALVAN NEURAL PIPELINE — ALL-IN-ONE RECRUITMENT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514600"/>
            <a:ext cx="3291840" cy="73152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457200" cy="4572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Resume Processing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Extracts, normalizes, and tokenizes candidate experience &amp; skills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234440" y="3246120"/>
            <a:ext cx="182880" cy="137160"/>
          </a:xfrm>
          <a:prstGeom prst="down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3383280"/>
            <a:ext cx="3291840" cy="73152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7472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Job Role Recommendation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Maps multi-dimensional profiles to optimal organizational roles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234440" y="4114800"/>
            <a:ext cx="182880" cy="137160"/>
          </a:xfrm>
          <a:prstGeom prst="down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51960"/>
            <a:ext cx="3291840" cy="73152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38912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4340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Skill Gap Analysis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Pinpoints missing competencies and calculates development effort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234440" y="4983480"/>
            <a:ext cx="182880" cy="137160"/>
          </a:xfrm>
          <a:prstGeom prst="downArrow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5120640"/>
            <a:ext cx="3291840" cy="73152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257800"/>
            <a:ext cx="457200" cy="457200"/>
          </a:xfrm>
          <a:prstGeom prst="ellipse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212079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JD Matching &amp; Candidate Ranking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Performs semantic scoring against live open job requisitions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Segoe UI"/>
              </a:defRPr>
            </a:pPr>
            <a:r>
              <a:t>INTEGRATED PREDICTION ENGINES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2926080"/>
            <a:ext cx="3200400" cy="914400"/>
          </a:xfrm>
          <a:prstGeom prst="roundRect">
            <a:avLst/>
          </a:prstGeom>
          <a:solidFill>
            <a:srgbClr val="111C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0175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E5FF"/>
                </a:solidFill>
                <a:latin typeface="Segoe UI"/>
              </a:defRPr>
            </a:pPr>
            <a:r>
              <a:t>INTERVIEW READINESS PREDICTOR</a:t>
            </a:r>
          </a:p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▶ 78% Probability Score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Estimates candidate interview performance &amp; technical competency breakdown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977639"/>
            <a:ext cx="3200400" cy="914400"/>
          </a:xfrm>
          <a:prstGeom prst="roundRect">
            <a:avLst/>
          </a:prstGeom>
          <a:solidFill>
            <a:srgbClr val="111C2A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69079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FF66"/>
                </a:solidFill>
                <a:latin typeface="Segoe UI"/>
              </a:defRPr>
            </a:pPr>
            <a:r>
              <a:t>CANDIDATE SUCCESS PREDICTOR</a:t>
            </a:r>
          </a:p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▶ 84% Long-Term Role Fit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Forecasts long-term organization alignment, cultural match, and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5029200"/>
            <a:ext cx="3200400" cy="914400"/>
          </a:xfrm>
          <a:prstGeom prst="roundRect">
            <a:avLst/>
          </a:prstGeom>
          <a:solidFill>
            <a:srgbClr val="111C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1206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SALARY VALUATION ENGINE</a:t>
            </a:r>
          </a:p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▶ ₹6 LPA — ₹9 LPA Benchmark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Calculates competitive, fair, and multi-variable market compensation</a:t>
            </a:r>
          </a:p>
        </p:txBody>
      </p:sp>
      <p:pic>
        <p:nvPicPr>
          <p:cNvPr id="30" name="Picture 29" descr="up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20240"/>
            <a:ext cx="3291840" cy="329184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138160" y="5349240"/>
            <a:ext cx="3291840" cy="1051560"/>
          </a:xfrm>
          <a:prstGeom prst="roundRect">
            <a:avLst/>
          </a:prstGeom>
          <a:solidFill>
            <a:srgbClr val="111C2A"/>
          </a:solidFill>
          <a:ln w="1524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5440680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0FF66"/>
                </a:solidFill>
                <a:latin typeface="Consolas"/>
              </a:defRPr>
            </a:pPr>
            <a:r>
              <a:t>⚡ UPGRADE: SYSTEM SYNERGY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Unified data flow ensures candidate telemetry seamlessly feeds all three predictive engines in &lt; 1.2s total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20040"/>
          </a:xfrm>
          <a:prstGeom prst="roundRect">
            <a:avLst/>
          </a:prstGeom>
          <a:solidFill>
            <a:srgbClr val="0A141E"/>
          </a:solidFill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F66"/>
                </a:solidFill>
                <a:latin typeface="Consolas"/>
              </a:defRPr>
            </a:pPr>
            <a:r>
              <a:t>⚡ MODULE 06 // 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talent acquisition into a fast, transparent, and data-driven powerhouse.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18288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794760" cy="1737360"/>
          </a:xfrm>
          <a:prstGeom prst="roundRect">
            <a:avLst/>
          </a:prstGeom>
          <a:solidFill>
            <a:srgbClr val="0D1621"/>
          </a:solidFill>
          <a:ln w="1778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Segoe UI"/>
              </a:defRPr>
            </a:pPr>
            <a:r>
              <a:t>🚀  SMARTER RECRUITMENT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Semantic deep understanding matches candidates to roles based on genuine ability, cutting through keyword manipulation and pedigree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1920240"/>
            <a:ext cx="3794760" cy="1737360"/>
          </a:xfrm>
          <a:prstGeom prst="roundRect">
            <a:avLst/>
          </a:prstGeom>
          <a:solidFill>
            <a:srgbClr val="0D1621"/>
          </a:solidFill>
          <a:ln w="1778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FF66"/>
                </a:solidFill>
                <a:latin typeface="Segoe UI"/>
              </a:defRPr>
            </a:pPr>
            <a:r>
              <a:t>⚡  FASTER DECISION-MAKING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Reduces candidate screening and shortlisting cycles from weeks to minutes, allowing talent acquisition teams to act before competitors.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3794760" cy="1737360"/>
          </a:xfrm>
          <a:prstGeom prst="roundRect">
            <a:avLst/>
          </a:prstGeom>
          <a:solidFill>
            <a:srgbClr val="0D1621"/>
          </a:solidFill>
          <a:ln w="17780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A84FF"/>
                </a:solidFill>
                <a:latin typeface="Segoe UI"/>
              </a:defRPr>
            </a:pPr>
            <a:r>
              <a:t>📊  DATA-DRIVEN EVALUATION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Replaces subjective intuition with quantifiable readiness, predictive retention scores, and standardized competency benchmarks.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3794760"/>
            <a:ext cx="3794760" cy="1737360"/>
          </a:xfrm>
          <a:prstGeom prst="roundRect">
            <a:avLst/>
          </a:prstGeom>
          <a:solidFill>
            <a:srgbClr val="0D1621"/>
          </a:solidFill>
          <a:ln w="1778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393192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A855F7"/>
                </a:solidFill>
                <a:latin typeface="Segoe UI"/>
              </a:defRPr>
            </a:pPr>
            <a:r>
              <a:t>⚖️  FAIR &amp; CONSISTENT ASSESSMENTS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Objective NLP models evaluate candidates on proven capability and growth trajectory, ensuring an equitable hiring process.</a:t>
            </a:r>
          </a:p>
        </p:txBody>
      </p:sp>
      <p:pic>
        <p:nvPicPr>
          <p:cNvPr id="14" name="Picture 13" descr="b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737360"/>
            <a:ext cx="2743200" cy="35661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623560"/>
            <a:ext cx="7772400" cy="868680"/>
          </a:xfrm>
          <a:prstGeom prst="roundRect">
            <a:avLst/>
          </a:prstGeom>
          <a:solidFill>
            <a:srgbClr val="0A1812"/>
          </a:solidFill>
          <a:ln w="2286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0FF66"/>
                </a:solidFill>
                <a:latin typeface="Segoe UI"/>
              </a:defRPr>
            </a:pPr>
            <a:r>
              <a:t>FROM RESUME TO SUCCESSFUL HIRING — POWERED BY AI</a:t>
            </a:r>
          </a:p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Empowering organizations to build high-performance, future-ready engineering teams.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5623560"/>
            <a:ext cx="2743200" cy="868680"/>
          </a:xfrm>
          <a:prstGeom prst="round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Segoe UI"/>
              </a:defRPr>
            </a:pPr>
            <a:r>
              <a:t>▶  LIVE DEMO</a:t>
            </a:r>
          </a:p>
          <a:p>
            <a:pPr algn="ctr">
              <a:defRPr sz="900" b="1">
                <a:solidFill>
                  <a:srgbClr val="142814"/>
                </a:solidFill>
                <a:latin typeface="Segoe UI"/>
              </a:defRPr>
            </a:pPr>
            <a:r>
              <a:t>Click to launch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